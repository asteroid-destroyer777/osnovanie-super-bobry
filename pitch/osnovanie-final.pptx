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fd0fb1ad5843da" /><Relationship Type="http://schemas.openxmlformats.org/officeDocument/2006/relationships/extended-properties" Target="/docProps/app.xml" Id="Rdb18b6d5ad00482f" /><Relationship Type="http://schemas.openxmlformats.org/officeDocument/2006/relationships/officeDocument" Target="/ppt/presentation.xml" Id="Ra129e7809aa24b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29ab1189d74452"/>
  </p:sldMasterIdLst>
  <p:notesMasterIdLst>
    <p:notesMasterId xmlns:r="http://schemas.openxmlformats.org/officeDocument/2006/relationships" r:id="Rd98a0776b3b047ba"/>
  </p:notesMasterIdLst>
  <p:sldIdLst>
    <p:sldId xmlns:r="http://schemas.openxmlformats.org/officeDocument/2006/relationships" id="256" r:id="R1c577ffdf8994b15"/>
    <p:sldId xmlns:r="http://schemas.openxmlformats.org/officeDocument/2006/relationships" id="257" r:id="R7aa6726d9f8d46dc"/>
    <p:sldId xmlns:r="http://schemas.openxmlformats.org/officeDocument/2006/relationships" id="258" r:id="R039f719a19344e4a"/>
    <p:sldId xmlns:r="http://schemas.openxmlformats.org/officeDocument/2006/relationships" id="259" r:id="Rb3646ed9afc44fb9"/>
    <p:sldId xmlns:r="http://schemas.openxmlformats.org/officeDocument/2006/relationships" id="260" r:id="R48c05e7dce864671"/>
    <p:sldId xmlns:r="http://schemas.openxmlformats.org/officeDocument/2006/relationships" id="261" r:id="R14c771b4217f4f32"/>
    <p:sldId xmlns:r="http://schemas.openxmlformats.org/officeDocument/2006/relationships" id="262" r:id="Raff1f05c4b7a46fb"/>
    <p:sldId xmlns:r="http://schemas.openxmlformats.org/officeDocument/2006/relationships" id="263" r:id="R27f42a6593664126"/>
    <p:sldId xmlns:r="http://schemas.openxmlformats.org/officeDocument/2006/relationships" id="264" r:id="Re79393ea7cb14e2e"/>
    <p:sldId xmlns:r="http://schemas.openxmlformats.org/officeDocument/2006/relationships" id="265" r:id="Rd55a4a9009944e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6ef2d8c1ac4e1a" /><Relationship Type="http://schemas.openxmlformats.org/officeDocument/2006/relationships/slideMaster" Target="/ppt/slideMasters/slideMaster1.xml" Id="R1629ab1189d74452" /><Relationship Type="http://schemas.openxmlformats.org/officeDocument/2006/relationships/notesMaster" Target="/ppt/notesMasters/notesMaster1.xml" Id="Rd98a0776b3b047ba" /><Relationship Type="http://schemas.openxmlformats.org/officeDocument/2006/relationships/presProps" Target="/ppt/presProps.xml" Id="R2dc6756a0a014c77" /><Relationship Type="http://schemas.openxmlformats.org/officeDocument/2006/relationships/tableStyles" Target="/ppt/tableStyles.xml" Id="R22e4bae786a6408b" /><Relationship Type="http://schemas.openxmlformats.org/officeDocument/2006/relationships/slide" Target="/ppt/slides/slide1.xml" Id="R1c577ffdf8994b15" /><Relationship Type="http://schemas.openxmlformats.org/officeDocument/2006/relationships/slide" Target="/ppt/slides/slide2.xml" Id="R7aa6726d9f8d46dc" /><Relationship Type="http://schemas.openxmlformats.org/officeDocument/2006/relationships/slide" Target="/ppt/slides/slide3.xml" Id="R039f719a19344e4a" /><Relationship Type="http://schemas.openxmlformats.org/officeDocument/2006/relationships/slide" Target="/ppt/slides/slide4.xml" Id="Rb3646ed9afc44fb9" /><Relationship Type="http://schemas.openxmlformats.org/officeDocument/2006/relationships/slide" Target="/ppt/slides/slide5.xml" Id="R48c05e7dce864671" /><Relationship Type="http://schemas.openxmlformats.org/officeDocument/2006/relationships/slide" Target="/ppt/slides/slide6.xml" Id="R14c771b4217f4f32" /><Relationship Type="http://schemas.openxmlformats.org/officeDocument/2006/relationships/slide" Target="/ppt/slides/slide7.xml" Id="Raff1f05c4b7a46fb" /><Relationship Type="http://schemas.openxmlformats.org/officeDocument/2006/relationships/slide" Target="/ppt/slides/slide8.xml" Id="R27f42a6593664126" /><Relationship Type="http://schemas.openxmlformats.org/officeDocument/2006/relationships/slide" Target="/ppt/slides/slide9.xml" Id="Re79393ea7cb14e2e" /><Relationship Type="http://schemas.openxmlformats.org/officeDocument/2006/relationships/slide" Target="/ppt/slides/slide10.xml" Id="Rd55a4a9009944e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ebfd87d35046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6df4bf98a846d0" /><Relationship Type="http://schemas.openxmlformats.org/officeDocument/2006/relationships/notesMaster" Target="/ppt/notesMasters/notesMaster1.xml" Id="R612d21ae657b44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c7f0419c4d4794" /><Relationship Type="http://schemas.openxmlformats.org/officeDocument/2006/relationships/notesMaster" Target="/ppt/notesMasters/notesMaster1.xml" Id="Rd64fb83524cb4a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6ccefe84f049c6" /><Relationship Type="http://schemas.openxmlformats.org/officeDocument/2006/relationships/notesMaster" Target="/ppt/notesMasters/notesMaster1.xml" Id="R7d5bc107c9da44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f8937b32fd4ed7" /><Relationship Type="http://schemas.openxmlformats.org/officeDocument/2006/relationships/notesMaster" Target="/ppt/notesMasters/notesMaster1.xml" Id="R81d3989b0d9c40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b04a1477114104" /><Relationship Type="http://schemas.openxmlformats.org/officeDocument/2006/relationships/notesMaster" Target="/ppt/notesMasters/notesMaster1.xml" Id="R8f5528f2f38e4a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f87c758d3d44ab" /><Relationship Type="http://schemas.openxmlformats.org/officeDocument/2006/relationships/notesMaster" Target="/ppt/notesMasters/notesMaster1.xml" Id="R2b51246509f240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3bde653f6c4dcc" /><Relationship Type="http://schemas.openxmlformats.org/officeDocument/2006/relationships/notesMaster" Target="/ppt/notesMasters/notesMaster1.xml" Id="Rb6c92fce3a0f4c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e37c48e8284004" /><Relationship Type="http://schemas.openxmlformats.org/officeDocument/2006/relationships/notesMaster" Target="/ppt/notesMasters/notesMaster1.xml" Id="Rb802310b6058478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f8cf478bb246e5" /><Relationship Type="http://schemas.openxmlformats.org/officeDocument/2006/relationships/notesMaster" Target="/ppt/notesMasters/notesMaster1.xml" Id="Rd53b678cc91f4d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ec0d9cb3dc4dfd" /><Relationship Type="http://schemas.openxmlformats.org/officeDocument/2006/relationships/notesMaster" Target="/ppt/notesMasters/notesMaster1.xml" Id="Rf6e1aae886c447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Первый спринт, 6 октября 2026 года. Рабочая версия питча, которая будет обновляться по фактическим исследованиям. Команда Super_Бобры.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https://www.cbr.ru/protection_rights/rassmotrenie-obrascheniy-potrebiteley-finansovykh-uslug/ . Регулятор описывает проблему коммуникации и рекомендует адресные объяснения. Частота именно по запросам МСБ и причинная связь с ручным сопоставлением ещё не установлены.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JTBD и сегмент — гипотезы команды. Владелец пилота ещё не назначен. До исследования описываем предлагаемую аудиторию, а не подтверждённый спрос.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локального прототипа, синтетический набор. Источник изображения: собственное приложение. Демонстрация: три операции, пять документов, четыре замечания.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Демо-профиль supply-v1 является синтетическим и не подменяет требования банка. Частичные оплаты суммируются. Аванс не требует первичного документа по этому профилю. Подлинность, подписи и решение по операции — вне автоматической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https://www.directum.ru/clients/projects/osd-case ; https://tochka.com/compliance/ ; https://www.tbank.ru/business/help/account/currency-ruble/actions/115-fz/ . По банковским страницам в этой сессии доступны поисковые выдержки, прямое открытие завершилось тайм-аутом. Не утверждаем отсутствия аналогичной внутренней функции.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Цели и выборки — план команды, не измеренные результаты. Интервью и банковская ретроспектива ещё не проведены. Для ложной полноты ≤1% нужны независимые неполные кейсы и доверительный интервал, 100 кейсов для этого недостаточно.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значения — допущения команды. Детальная модель: model/financial-model.md, scenarios.json и калькулятор в приложении. CAPEX 2,4 млн ₽, OPEX 1,2 млн ₽/год. Стоимость высвобожденного времени отдельно от доли реализованного эффекта. Простой срок окупаемости без периода разгона и дисконтирования.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Сценарий пилота предложен, банковские договорённости не подтверждены. Проектируется on-prem, правила утверждает владелец процесса. Источник сроков соревнования: https://fintechacademy.ru/task-1 . Критерии второго спринта нужно перепроверить после публикации.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Пользователь сообщил о senior developers и доступе к контактам сотрудников/директоров банка. Имена, точное число участников, фактическое распределение ролей и обязательства после соревнования пока не предоставлены. До подачи нужно заменить обобщённое описание конкретными подтверждёнными данными. Codex — инструмент разработки, не участник официальной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1712e2eae42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df0dc30abb42bb" /><Relationship Type="http://schemas.openxmlformats.org/officeDocument/2006/relationships/slideLayout" Target="/ppt/slideLayouts/slideLayout1.xml" Id="R581d96cccc2a46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1d96cccc2a46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1de7bdeb8411f" /><Relationship Type="http://schemas.openxmlformats.org/officeDocument/2006/relationships/notesSlide" Target="/ppt/notesSlides/notesSlide1.xml" Id="R475b6d850e0c45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b8a98d25a4420" /><Relationship Type="http://schemas.openxmlformats.org/officeDocument/2006/relationships/notesSlide" Target="/ppt/notesSlides/notesSlide2.xml" Id="R8978d2aee33c4d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b6e8827764908" /><Relationship Type="http://schemas.openxmlformats.org/officeDocument/2006/relationships/notesSlide" Target="/ppt/notesSlides/notesSlide3.xml" Id="Rfbca3d0ee0884c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9297fd97348c5" /><Relationship Type="http://schemas.openxmlformats.org/officeDocument/2006/relationships/image" Target="/ppt/media/image.png" Id="R832a3ae4dd2e4ef8" /><Relationship Type="http://schemas.openxmlformats.org/officeDocument/2006/relationships/notesSlide" Target="/ppt/notesSlides/notesSlide4.xml" Id="R93212bf8615a47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b7396d0664fff" /><Relationship Type="http://schemas.openxmlformats.org/officeDocument/2006/relationships/notesSlide" Target="/ppt/notesSlides/notesSlide5.xml" Id="R32eabd17de3b49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8775e83444d4e" /><Relationship Type="http://schemas.openxmlformats.org/officeDocument/2006/relationships/notesSlide" Target="/ppt/notesSlides/notesSlide6.xml" Id="Rb60304fb14bb44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9848c2e444b1d" /><Relationship Type="http://schemas.openxmlformats.org/officeDocument/2006/relationships/notesSlide" Target="/ppt/notesSlides/notesSlide7.xml" Id="R51abdb86e59746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4c09117bc4a63" /><Relationship Type="http://schemas.openxmlformats.org/officeDocument/2006/relationships/notesSlide" Target="/ppt/notesSlides/notesSlide8.xml" Id="R45a6b64238a74c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cbcbd1d06a48b4" /><Relationship Type="http://schemas.openxmlformats.org/officeDocument/2006/relationships/notesSlide" Target="/ppt/notesSlides/notesSlide9.xml" Id="R9eaead291ccb4e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074058343487d" /><Relationship Type="http://schemas.openxmlformats.org/officeDocument/2006/relationships/notesSlide" Target="/ppt/notesSlides/notesSlide10.xml" Id="R960febfc80cd45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CB873-E39E-43F5-A809-3560169C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Основание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F2EC1-F37F-4696-9903-625CCE17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Понятный комплект документов</a:t>
            </a:r>
          </a:p>
          <a:p xmlns:a="http://schemas.openxmlformats.org/drawingml/2006/main">
            <a:pPr>
              <a:defRPr sz="41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по запросу банка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3FCE3-BA47-4EC0-967A-D8BE048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Сотрудник видит пробелы и проверяет основание каждого замечания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E479E-CFCE-4F45-BB3F-D49EAB7A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Super_Бобры · Функциональный прототип · Синтетические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322331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B3C42-F24E-4316-986D-579AB880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Проблема повторных запросов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804712-F536-454A-B78B-DB413425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76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Регулятор описывает неинформативные ответы</a:t>
            </a:r>
          </a:p>
          <a:p xmlns:a="http://schemas.openxmlformats.org/drawingml/2006/main">
            <a:pPr>
              <a:def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и рекомендует объяснять, каких документов не хватает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EEA48-4047-4BB7-8413-4ED5A280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В комплекте могут быть нужные файлы, но не для той операции, контрагента или схемы оплаты.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3F403-049D-4CC5-88BD-C6E0D537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Наша гипотеза: карта требований и оснований уменьшит ручной разбор и лишние уточнения.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C093E-2001-423C-B850-0F07273E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Качественный сигнал: Банк России. Частоту и затраты проверяем в процессе банка.</a:t>
            </a:r>
          </a:p>
        </p:txBody>
      </p:sp>
    </p:spTree>
    <p:extLst>
      <p:ext uri="{BB962C8B-B14F-4D97-AF65-F5344CB8AC3E}">
        <p14:creationId xmlns:p14="http://schemas.microsoft.com/office/powerpoint/2010/main" val="1734493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28892-2EC9-4B28-98E5-5358D4FA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Пользователь и задача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29B29-AFB7-4928-8156-567F6513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Сотрудник, проверяющий документы бизнес-клиента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54C5A-1E06-4D8E-A5E8-25C67A52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Когда клиент прислал ответ на запрос, я хочу увидеть, какие требования подтверждены и какие требуют уточнения, чтобы продолжить рассмотрение без повторного просмотра всей папки.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37627-1FFA-4301-A050-C278DEF3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Клиент получает конкретный список дополнений.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Владелец процесса измеряет время и повторные запросы.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D3926-5A50-49E6-8053-A04E2433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Начальный охват пилота: предложение 10–20 сотрудников, один профиль запроса.</a:t>
            </a:r>
          </a:p>
        </p:txBody>
      </p:sp>
    </p:spTree>
    <p:extLst>
      <p:ext uri="{BB962C8B-B14F-4D97-AF65-F5344CB8AC3E}">
        <p14:creationId xmlns:p14="http://schemas.microsoft.com/office/powerpoint/2010/main" val="634311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E9201-4990-4D05-A616-FD3F1549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Работающий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D5EC2-EF33-44DA-A6A4-C237A3FD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Операции связаны с документами. Замечание ведёт к строке источника.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a3ae4dd2e4ef8"/>
          <a:stretch xmlns:a="http://schemas.openxmlformats.org/drawingml/2006/main"/>
        </p:blipFill>
        <p:spPr>
          <a:xfrm xmlns:a="http://schemas.openxmlformats.org/drawingml/2006/main">
            <a:off x="609600" y="1963135"/>
            <a:ext cx="10972800" cy="394137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80D9B-F7BB-4D1F-BCE9-C1BB5C43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JSON / TXT вход. Распознавание произвольных сканов ещё предстоит подключить.</a:t>
            </a:r>
          </a:p>
        </p:txBody>
      </p:sp>
    </p:spTree>
    <p:extLst>
      <p:ext uri="{BB962C8B-B14F-4D97-AF65-F5344CB8AC3E}">
        <p14:creationId xmlns:p14="http://schemas.microsoft.com/office/powerpoint/2010/main" val="1845319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4FA03-2AC7-4AD8-8DF0-DB87769E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Проверяемые правила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08366-1D4A-4D40-A502-77A3EBD5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787C1-BBAD-4A40-8472-BAE7341A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43075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Операции и документы связываются по договору и ИНН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AD672-F7B2-4EF8-9A46-326BD2E4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F66B5-0DA6-4C1B-BD90-D151DBE8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971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Полный расчёт и аванс проверяются по разным требованиям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03EC5-6737-4EF7-9589-00E04A47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54401-90B1-41E8-B2F1-3FAD4F2C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971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Каждый пробел имеет источник или понятную причину</a:t>
            </a:r>
          </a:p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для ручной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8C9EB-491C-4D54-9283-051D5CDB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Комплектность по профилю помогает проверке сотрудника. Банковское решение остаётся у банка.</a:t>
            </a:r>
          </a:p>
        </p:txBody>
      </p:sp>
    </p:spTree>
    <p:extLst>
      <p:ext uri="{BB962C8B-B14F-4D97-AF65-F5344CB8AC3E}">
        <p14:creationId xmlns:p14="http://schemas.microsoft.com/office/powerpoint/2010/main" val="6291043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24D53-B208-48E2-BFF1-801056BB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Отличие проверим на текущем процессе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1AAEA-2EBD-40D3-80B9-AB101E13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Распознавание документов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75B4F-1CFF-4725-B5B7-DFB752AB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Российские OCR / IDP уже извлекают реквизиты.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Используем существующий компонент банка.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905EF-BBB9-49DA-8977-6518F7C4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47825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Карта конкретного запроса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9C03F-5243-495B-9C4A-08DBCE02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Связь с пунктом запроса, группой операций, пробелом и адресным уточнением.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33A55-EB51-48B9-89D4-FE0E972A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Основное сравнение: текущая CRM / ДБО и ручной чек-лист</a:t>
            </a:r>
          </a:p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на одинаковых кейсах, с учётом времени проверки результата.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70686-236E-4972-8FBD-E5A29FD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Абсолютная уникальность и преимущество над банковскими настройками пока не подтверждены.</a:t>
            </a:r>
          </a:p>
        </p:txBody>
      </p:sp>
    </p:spTree>
    <p:extLst>
      <p:ext uri="{BB962C8B-B14F-4D97-AF65-F5344CB8AC3E}">
        <p14:creationId xmlns:p14="http://schemas.microsoft.com/office/powerpoint/2010/main" val="774327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EEFF0-65F9-4540-8FED-6799DE7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Метрики и доказательства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1620F-A1D9-4445-B45D-B1C5A30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−25%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9DB42-5828-4502-BE7F-7734636B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медианное активное время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разбора: цель пилота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7848E-2FF0-4E5F-87D3-BC587DA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811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02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−20%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3569F-CFD0-432D-A28C-3CD4A55F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повторные запросы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из-за неполноты: цель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55B85-CBF7-4458-B654-8A5A6EB1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859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Качество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4502B-DFF7-4585-8125-6B3C6E98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0350"/>
            <a:ext cx="26193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Не ухудшается.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Ложная полнота</a:t>
            </a:r>
          </a:p>
          <a:p xmlns:a="http://schemas.openxmlformats.org/drawingml/2006/main">
            <a:pPr>
              <a:def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под отдельным контролем.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18D2E-1834-4B90-B947-FAD27F6F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Есть: источники, прототип, проверки сценариев.</a:t>
            </a:r>
          </a:p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Следующий шаг: интервью и независимая разметка кейсов.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93722-6148-4E6E-8B5F-40E02930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Цели сравниваются с контролем. Синтетические тесты не доказывают качество на банковских документах.</a:t>
            </a:r>
          </a:p>
        </p:txBody>
      </p:sp>
    </p:spTree>
    <p:extLst>
      <p:ext uri="{BB962C8B-B14F-4D97-AF65-F5344CB8AC3E}">
        <p14:creationId xmlns:p14="http://schemas.microsoft.com/office/powerpoint/2010/main" val="16992019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FE72C-1248-4AEA-BB00-D148D19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Экономика зависит от потока кейсов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190750"/>
                <a:gridCol w="3286125"/>
                <a:gridCol w="2543175"/>
              </a:tblGrid>
              <a:tr h="6548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Сценарий</a:t>
                      </a:r>
                    </a:p>
                  </a:txBody>
                  <a:tcPr marL="114300" marR="114300" marT="133350" marB="133350"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Кейсов/год</a:t>
                      </a:r>
                    </a:p>
                  </a:txBody>
                  <a:tcPr marL="114300" marR="114300" marT="133350" marB="133350"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Чистый эффект/год</a:t>
                      </a:r>
                    </a:p>
                  </a:txBody>
                  <a:tcPr marL="114300" marR="114300" marT="133350" marB="133350">
                    <a:solidFill>
                      <a:srgbClr val="E8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624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Окупаемость</a:t>
                      </a:r>
                    </a:p>
                  </a:txBody>
                  <a:tcPr marL="114300" marR="114300" marT="133350" marB="133350">
                    <a:solidFill>
                      <a:srgbClr val="E8F0EA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Осторожный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30 000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−1,14 млн ₽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</a:t>
                      </a:r>
                    </a:p>
                  </a:txBody>
                  <a:tcPr marL="114300" marR="114300" marT="133350" marB="133350"/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Умеренный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60 000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−66 тыс. ₽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</a:t>
                      </a:r>
                    </a:p>
                  </a:txBody>
                  <a:tcPr marL="114300" marR="114300" marT="133350" marB="133350"/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Масштаб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120 000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6,48 млн ₽</a:t>
                      </a:r>
                    </a:p>
                  </a:txBody>
                  <a:tcPr marL="114300" marR="114300" marT="133350" marB="13335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8332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4,4 мес.</a:t>
                      </a:r>
                    </a:p>
                  </a:txBody>
                  <a:tcPr marL="114300" marR="114300" marT="133350" marB="133350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89F14-19D5-46EC-9043-5C78ACFA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Умеренный сценарий пока не покрывает эксплуатацию.</a:t>
            </a:r>
          </a:p>
          <a:p xmlns:a="http://schemas.openxmlformats.org/drawingml/2006/main">
            <a:pPr>
              <a:def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Порог проверяем до решения о внедрении.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3C4C3-18C1-4636-94AE-90733BF2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Сценарные допущения, не данные ВТБ. Денежный эффект учитывает реализацию высвобождённого времени.</a:t>
            </a:r>
          </a:p>
        </p:txBody>
      </p:sp>
    </p:spTree>
    <p:extLst>
      <p:ext uri="{BB962C8B-B14F-4D97-AF65-F5344CB8AC3E}">
        <p14:creationId xmlns:p14="http://schemas.microsoft.com/office/powerpoint/2010/main" val="10721921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755D7-45EF-4C3C-ADAE-91E889F8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Пилот и масштабирование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E9F5D-34BF-4FC3-8BFE-C57D65FF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Узкий профиль в банковском контуре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99CA4-027C-4B2D-9D54-A6A5AC61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Ретроспектива и независимая оценка качества.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Затем 4–6 недель работы с 10–20 сотрудниками.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Уточнения проверяет и отправляет сотрудник банка.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3055E-3B95-41F3-9C0A-FFC04F8B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Новые профили подключаем после отдельной проверки.</a:t>
            </a:r>
          </a:p>
          <a:p xmlns:a="http://schemas.openxmlformats.org/drawingml/2006/main">
            <a:pPr>
              <a:def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Интеграция с CRM / ДБО через согласованные адаптеры.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324FC-5D0A-4637-B4BC-48B6E507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Условия продолжения: качество, измеримый эффект, владелец процесса и положительная экономика.</a:t>
            </a:r>
          </a:p>
        </p:txBody>
      </p:sp>
    </p:spTree>
    <p:extLst>
      <p:ext uri="{BB962C8B-B14F-4D97-AF65-F5344CB8AC3E}">
        <p14:creationId xmlns:p14="http://schemas.microsoft.com/office/powerpoint/2010/main" val="14644019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FBF82-EB0C-48C7-9940-0D535105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Команда и запрос к банку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2553F-85CC-458A-A9C5-C0D18A13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3624F"/>
                </a:solidFill>
                <a:latin typeface="Helvetica Neue"/>
                <a:ea typeface="Helvetica Neue"/>
                <a:cs typeface="Helvetica Neue"/>
              </a:rPr>
              <a:t>Super_Бобры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10170-3EE0-42E2-A3C3-C86191EA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Senior developers: разработка и интеграция.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Есть возможность организовать доступ к сотрудникам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и руководителям для исследования процесса.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05938-7C04-48F0-8732-74681E62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Запрос: владелец процесса, разбор текущего сценария</a:t>
            </a:r>
          </a:p>
          <a:p xmlns:a="http://schemas.openxmlformats.org/drawingml/2006/main">
            <a:pPr>
              <a:def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8332D"/>
                </a:solidFill>
                <a:latin typeface="Helvetica Neue"/>
                <a:ea typeface="Helvetica Neue"/>
                <a:cs typeface="Helvetica Neue"/>
              </a:rPr>
              <a:t>и согласованная ретроспектива обезличенных кейсов.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3503F-9FC1-4F57-A95F-4954A40A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62675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068"/>
                </a:solidFill>
                <a:latin typeface="Helvetica Neue"/>
                <a:ea typeface="Helvetica Neue"/>
                <a:cs typeface="Helvetica Neue"/>
              </a:rPr>
              <a:t>По сведениям команды. Состав, персональные роли и продолжение после хакатона подтверждаются до подачи.</a:t>
            </a:r>
          </a:p>
        </p:txBody>
      </p:sp>
    </p:spTree>
    <p:extLst>
      <p:ext uri="{BB962C8B-B14F-4D97-AF65-F5344CB8AC3E}">
        <p14:creationId xmlns:p14="http://schemas.microsoft.com/office/powerpoint/2010/main" val="1445448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2026-10-06T10:08:21.4660000Z</dcterms:created>
  <dcterms:modified xsi:type="dcterms:W3CDTF">2026-10-06T10:08:21.4670000Z</dcterms:modified>
</coreProperties>
</file>